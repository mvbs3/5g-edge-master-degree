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F4E79"/>
                </a:solidFill>
              </a:rPr>
              <a:t>Roteamento adaptativo de UEs em MEC 5G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MAB (Thompson Sampling) vs Round Robin sobre auto-scaling MAPE-K</a:t>
            </a:r>
          </a:p>
          <a:p>
            <a:r>
              <a:t>Marcelo Victor · acompanhamento de mestrado · setembro/2026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Do que se trata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Pergunta: escolher a instância MEC que atende cada UE por aprendizado reduz latência em relação a um balanceamento cego?</a:t>
            </a:r>
          </a:p>
          <a:p>
            <a:pPr/>
            <a:r>
              <a:rPr sz="2000"/>
              <a:t>Comparamos dois roteadores sob a MESMA carga e o MESMO auto-scaling:</a:t>
            </a:r>
          </a:p>
          <a:p>
            <a:pPr lvl="1"/>
            <a:r>
              <a:rPr sz="1800">
                <a:solidFill>
                  <a:srgbClr val="595959"/>
                </a:solidFill>
              </a:rPr>
              <a:t>MAB — Thompson Sampling, aprende qual instância entrega latência dentro do alvo</a:t>
            </a:r>
          </a:p>
          <a:p>
            <a:pPr lvl="1"/>
            <a:r>
              <a:rPr sz="1800">
                <a:solidFill>
                  <a:srgbClr val="595959"/>
                </a:solidFill>
              </a:rPr>
              <a:t>Round Robin — baseline circular, sem aprendizado</a:t>
            </a:r>
          </a:p>
          <a:p>
            <a:pPr/>
            <a:r>
              <a:rPr sz="2000"/>
              <a:t>O número de instâncias não é fixo: um laço MAPE-K escala de 2 a 10 conforme a CPU.</a:t>
            </a:r>
          </a:p>
          <a:p>
            <a:pPr/>
            <a:r>
              <a:rPr sz="2000"/>
              <a:t>Testbed real (não simulação): Open5GS + UERANSIM + plataforma MEC em Docker.</a:t>
            </a:r>
          </a:p>
          <a:p>
            <a:pPr/>
            <a:r>
              <a:rPr sz="2000"/>
              <a:t>KPIs do paper: latência média/p50/p95/p99, violação de SLA (&gt;200 ms), instance-minutes e número de mudanças de escala.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Arquitetura do testbed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100 UEs (UERANSIM) → 1 gNB → Open5GS Core → MEC Platform (MEP)</a:t>
            </a:r>
          </a:p>
          <a:p>
            <a:pPr/>
            <a:r>
              <a:rPr sz="2000"/>
              <a:t>MEC Intelligence: recebe a UE e decide a instância (MAB ou RR)</a:t>
            </a:r>
          </a:p>
          <a:p>
            <a:pPr/>
            <a:r>
              <a:rPr sz="2000"/>
              <a:t>Service Registry: cataloga as instâncias VidProc ativas</a:t>
            </a:r>
          </a:p>
          <a:p>
            <a:pPr/>
            <a:r>
              <a:rPr sz="2000"/>
              <a:t>Pool VidProc: 2 a 10 instâncias, cada uma limitada a --cpus=0.20</a:t>
            </a:r>
          </a:p>
          <a:p>
            <a:pPr/>
            <a:r>
              <a:rPr sz="2000"/>
              <a:t>MAPE-K: monitora a CPU máxima entre instâncias e escala o pool</a:t>
            </a:r>
          </a:p>
          <a:p>
            <a:pPr/>
            <a:r>
              <a:rPr sz="2000"/>
              <a:t>Metric Catcher: recebe /latency das UEs e /app_metrics, consulta o Prometheus e escreve o CSV que alimenta a análise</a:t>
            </a:r>
          </a:p>
          <a:p>
            <a:pPr/>
            <a:r>
              <a:rPr sz="2000"/>
              <a:t>[substituir por arqHigh5g.png / export do drawio na versão final]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Onde cada coisa vive no código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8"/>
                <a:gridCol w="4416552"/>
                <a:gridCol w="4206240"/>
              </a:tblGrid>
              <a:tr h="360680">
                <a:tc>
                  <a:txBody>
                    <a:bodyPr/>
                    <a:lstStyle/>
                    <a:p>
                      <a:r>
                        <a:rPr sz="1400" b="1"/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Arquivo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Papel</a:t>
                      </a:r>
                    </a:p>
                  </a:txBody>
                  <a:tcPr/>
                </a:tc>
              </a:tr>
              <a:tr h="360680">
                <a:tc>
                  <a:txBody>
                    <a:bodyPr/>
                    <a:lstStyle/>
                    <a:p>
                      <a:r>
                        <a:rPr sz="1300"/>
                        <a:t>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mec_apps/mec_app_inteligence.py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roteia UE → instância</a:t>
                      </a:r>
                    </a:p>
                  </a:txBody>
                  <a:tcPr/>
                </a:tc>
              </a:tr>
              <a:tr h="360680">
                <a:tc>
                  <a:txBody>
                    <a:bodyPr/>
                    <a:lstStyle/>
                    <a:p>
                      <a:r>
                        <a:rPr sz="1300"/>
                        <a:t>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mec_apps/mab_controller.py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Thompson Sampling</a:t>
                      </a:r>
                    </a:p>
                  </a:txBody>
                  <a:tcPr/>
                </a:tc>
              </a:tr>
              <a:tr h="360680">
                <a:tc>
                  <a:txBody>
                    <a:bodyPr/>
                    <a:lstStyle/>
                    <a:p>
                      <a:r>
                        <a:rPr sz="1300"/>
                        <a:t>Round Robin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mec_apps/rr_controller.py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baseline, mesma interface do MAB</a:t>
                      </a:r>
                    </a:p>
                  </a:txBody>
                  <a:tcPr/>
                </a:tc>
              </a:tr>
              <a:tr h="360680">
                <a:tc>
                  <a:txBody>
                    <a:bodyPr/>
                    <a:lstStyle/>
                    <a:p>
                      <a:r>
                        <a:rPr sz="1300"/>
                        <a:t>MAPE-K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mec_apps/mapeK.py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scale up/down por CPU</a:t>
                      </a:r>
                    </a:p>
                  </a:txBody>
                  <a:tcPr/>
                </a:tc>
              </a:tr>
              <a:tr h="360680">
                <a:tc>
                  <a:txBody>
                    <a:bodyPr/>
                    <a:lstStyle/>
                    <a:p>
                      <a:r>
                        <a:rPr sz="1300"/>
                        <a:t>Catcher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mec_apps/mec_app_metric_catcher.py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agrega métricas e gera o CSV</a:t>
                      </a:r>
                    </a:p>
                  </a:txBody>
                  <a:tcPr/>
                </a:tc>
              </a:tr>
              <a:tr h="360680">
                <a:tc>
                  <a:txBody>
                    <a:bodyPr/>
                    <a:lstStyle/>
                    <a:p>
                      <a:r>
                        <a:rPr sz="1300"/>
                        <a:t>Instâncias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mec_instance_manager.py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cria/mata VidProc (--cpus=0.20)</a:t>
                      </a:r>
                    </a:p>
                  </a:txBody>
                  <a:tcPr/>
                </a:tc>
              </a:tr>
              <a:tr h="360680">
                <a:tc>
                  <a:txBody>
                    <a:bodyPr/>
                    <a:lstStyle/>
                    <a:p>
                      <a:r>
                        <a:rPr sz="1300"/>
                        <a:t>Experimento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run_experiment.sh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roda um cenário completo (60 min)</a:t>
                      </a:r>
                    </a:p>
                  </a:txBody>
                  <a:tcPr/>
                </a:tc>
              </a:tr>
              <a:tr h="360680">
                <a:tc>
                  <a:txBody>
                    <a:bodyPr/>
                    <a:lstStyle/>
                    <a:p>
                      <a:r>
                        <a:rPr sz="1300"/>
                        <a:t>Análise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graficos/graficos_compare.py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KPIs e gráficos MAB vs RR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Carga sintética: o que as UEs fazem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60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54680"/>
                <a:gridCol w="5257800"/>
              </a:tblGrid>
              <a:tr h="380999">
                <a:tc>
                  <a:txBody>
                    <a:bodyPr/>
                    <a:lstStyle/>
                    <a:p>
                      <a:r>
                        <a:rPr sz="1400" b="1"/>
                        <a:t>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UEs ativas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300"/>
                        <a:t>Warmup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0–10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300"/>
                        <a:t>Ramp-up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10–25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 → 100 (1 UE a cada ~10 s)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300"/>
                        <a:t>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25–40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100 sustentadas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300"/>
                        <a:t>Drain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40–55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100 → 10</a:t>
                      </a:r>
                    </a:p>
                  </a:txBody>
                  <a:tcPr/>
                </a:tc>
              </a:tr>
              <a:tr h="381004">
                <a:tc>
                  <a:txBody>
                    <a:bodyPr/>
                    <a:lstStyle/>
                    <a:p>
                      <a:r>
                        <a:rPr sz="1300"/>
                        <a:t>Settle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55–60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Carga por UE e agregado no peak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Cada UE roda 2 threads contra a instância atribuída:</a:t>
            </a:r>
          </a:p>
          <a:p>
            <a:pPr lvl="1"/>
            <a:r>
              <a:rPr sz="1800">
                <a:solidFill>
                  <a:srgbClr val="595959"/>
                </a:solidFill>
              </a:rPr>
              <a:t>POST /infer a cada 0,1–0,5 s, payload de 500–5000 B</a:t>
            </a:r>
          </a:p>
          <a:p>
            <a:pPr lvl="1"/>
            <a:r>
              <a:rPr sz="1800">
                <a:solidFill>
                  <a:srgbClr val="595959"/>
                </a:solidFill>
              </a:rPr>
              <a:t>GET /video em streaming contínuo, chunks de 1 KB</a:t>
            </a:r>
          </a:p>
          <a:p>
            <a:pPr/>
            <a:r>
              <a:rPr sz="2000"/>
              <a:t>Servidor simula visão computacional: sleep de 50–200 ms no /infer</a:t>
            </a:r>
          </a:p>
          <a:p>
            <a:pPr/>
            <a:r>
              <a:rPr sz="2000"/>
              <a:t>Por UE: ~3,3 req/s ≈ 72 kbps de uplink</a:t>
            </a:r>
          </a:p>
          <a:p>
            <a:pPr/>
            <a:r>
              <a:rPr sz="2000"/>
              <a:t>No peak (100 UEs): ~330 req/s de inferência + ~330 req/s de relatório de latência ao catcher ≈ 660 req/s no MEP</a:t>
            </a:r>
          </a:p>
          <a:p>
            <a:pPr/>
            <a:r>
              <a:rPr sz="2000"/>
              <a:t>200 conexões HTTP simultâneas e ~50 inferências em voo a qualquer instante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Algoritmo 1 — Roteamento MAB (Thompson Sampling)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Menlo"/>
              </a:rPr>
              <a:t>para cada UE u que requisita serviço:</a:t>
            </a:r>
          </a:p>
          <a:p>
            <a:r>
              <a:rPr sz="1500">
                <a:latin typeface="Menlo"/>
              </a:rPr>
              <a:t>    sincronizar braços com as instâncias ativas</a:t>
            </a:r>
          </a:p>
          <a:p>
            <a:r>
              <a:rPr sz="1500">
                <a:latin typeface="Menlo"/>
              </a:rPr>
              <a:t>        braço que persiste  → mantém (α, β)</a:t>
            </a:r>
          </a:p>
          <a:p>
            <a:r>
              <a:rPr sz="1500">
                <a:latin typeface="Menlo"/>
              </a:rPr>
              <a:t>        braço novo          → warm prior (média dos atuais, cap 10)</a:t>
            </a:r>
          </a:p>
          <a:p/>
          <a:p>
            <a:r>
              <a:rPr sz="1500">
                <a:latin typeface="Menlo"/>
              </a:rPr>
              <a:t>    se u tinha braço anterior e há latência medida ℓ:</a:t>
            </a:r>
          </a:p>
          <a:p>
            <a:r>
              <a:rPr sz="1500">
                <a:latin typeface="Menlo"/>
              </a:rPr>
              <a:t>        r ← 1 se ℓ ≤ L_ref (100 ms), senão 0</a:t>
            </a:r>
          </a:p>
          <a:p>
            <a:r>
              <a:rPr sz="1500">
                <a:latin typeface="Menlo"/>
              </a:rPr>
              <a:t>        α ← α + r ;  β ← β + (1 − r)</a:t>
            </a:r>
          </a:p>
          <a:p/>
          <a:p>
            <a:r>
              <a:rPr sz="1500">
                <a:latin typeface="Menlo"/>
              </a:rPr>
              <a:t>    se passaram T_dwell (30 s) ou o braço saiu do pool:</a:t>
            </a:r>
          </a:p>
          <a:p>
            <a:r>
              <a:rPr sz="1500">
                <a:latin typeface="Menlo"/>
              </a:rPr>
              <a:t>        θ_a ~ Beta(α_a, β_a)  para cada braço a</a:t>
            </a:r>
          </a:p>
          <a:p>
            <a:r>
              <a:rPr sz="1500">
                <a:latin typeface="Menlo"/>
              </a:rPr>
              <a:t>        a* ← argmax θ_a  →  atribui u a a*</a:t>
            </a:r>
          </a:p>
          <a:p>
            <a:r>
              <a:rPr sz="1500">
                <a:latin typeface="Menlo"/>
              </a:rPr>
              <a:t>    senão: mantém u onde está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</a:rPr>
              <a:t>Recompensa binária: a instância é 'boa' se entregou dentro de 100 ms. O dwell de 30 s evita trocar a UE de instância a cada requisição.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Algoritmo 2 — Round Robin (baseline)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Menlo"/>
              </a:rPr>
              <a:t>para cada UE u que requisita serviço:</a:t>
            </a:r>
          </a:p>
          <a:p>
            <a:r>
              <a:rPr sz="1500">
                <a:latin typeface="Menlo"/>
              </a:rPr>
              <a:t>    se passaram T_dwell (30 s) ou o braço saiu do pool:</a:t>
            </a:r>
          </a:p>
          <a:p>
            <a:r>
              <a:rPr sz="1500">
                <a:latin typeface="Menlo"/>
              </a:rPr>
              <a:t>        a* ← a[(i mod k) + 1]     # próximo na ordem cíclica</a:t>
            </a:r>
          </a:p>
          <a:p>
            <a:r>
              <a:rPr sz="1500">
                <a:latin typeface="Menlo"/>
              </a:rPr>
              <a:t>        i ← i + 1</a:t>
            </a:r>
          </a:p>
          <a:p>
            <a:r>
              <a:rPr sz="1500">
                <a:latin typeface="Menlo"/>
              </a:rPr>
              <a:t>        atribui u a a*</a:t>
            </a:r>
          </a:p>
          <a:p>
            <a:r>
              <a:rPr sz="1500">
                <a:latin typeface="Menlo"/>
              </a:rPr>
              <a:t>    senão: mantém u onde está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</a:rPr>
              <a:t>Mesmo dwell e mesma interface do MAB — a única diferença é a política de escolha, para que a comparação isole o efeito do aprendizado.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Algoritmo 3 — Laço MAPE-K (auto-scaling)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Menlo"/>
              </a:rPr>
              <a:t>a cada T_poll = 5 s:</a:t>
            </a:r>
          </a:p>
          <a:p>
            <a:r>
              <a:rPr sz="1500">
                <a:latin typeface="Menlo"/>
              </a:rPr>
              <a:t>    MONITOR   c ← max(CPU_i) entre as instâncias ativas</a:t>
            </a:r>
          </a:p>
          <a:p/>
          <a:p>
            <a:r>
              <a:rPr sz="1500">
                <a:latin typeface="Menlo"/>
              </a:rPr>
              <a:t>    ANALYZE   se (agora − t_última_ação) &lt; T_cool (30 s): NO_ACTION</a:t>
            </a:r>
          </a:p>
          <a:p>
            <a:r>
              <a:rPr sz="1500">
                <a:latin typeface="Menlo"/>
              </a:rPr>
              <a:t>              senão se c &gt; τ_up (10%)  e n &lt; N_max (10): SCALE_UP</a:t>
            </a:r>
          </a:p>
          <a:p>
            <a:r>
              <a:rPr sz="1500">
                <a:latin typeface="Menlo"/>
              </a:rPr>
              <a:t>              senão se c &lt; τ_down (5%) e n &gt; N_min (2):  SCALE_DOWN</a:t>
            </a:r>
          </a:p>
          <a:p>
            <a:r>
              <a:rPr sz="1500">
                <a:latin typeface="Menlo"/>
              </a:rPr>
              <a:t>              senão: NO_ACTION</a:t>
            </a:r>
          </a:p>
          <a:p/>
          <a:p>
            <a:r>
              <a:rPr sz="1500">
                <a:latin typeface="Menlo"/>
              </a:rPr>
              <a:t>    PLAN+EXEC SCALE_UP   → sobe instância e confirma no service registry</a:t>
            </a:r>
          </a:p>
          <a:p>
            <a:r>
              <a:rPr sz="1500">
                <a:latin typeface="Menlo"/>
              </a:rPr>
              <a:t>              SCALE_DOWN → encerra instância via API (espera HTTP 200)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</a:rPr>
              <a:t>O gatilho é a CPU MÁXIMA entre instâncias — decisão relevante para o resultado, como os próximos slides mostram.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Onde o código está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Stack completo sobe e roda ponta a ponta: núcleo, RAN, MEP, pool MEC, intelligence, MAPE-K e catcher.</a:t>
            </a:r>
          </a:p>
          <a:p>
            <a:pPr/>
            <a:r>
              <a:rPr sz="2000"/>
              <a:t>Os dois roteadores estão implementados e intercambiáveis por variável de ambiente (CONTROLLER_TYPE=mab|rr), com CSV no mesmo formato.</a:t>
            </a:r>
          </a:p>
          <a:p>
            <a:pPr/>
            <a:r>
              <a:rPr sz="2000"/>
              <a:t>Protocolo de 60 min em 5 fases automatizado em run_experiment.sh, com arquivamento por cenário e script de comparação pronto.</a:t>
            </a:r>
          </a:p>
          <a:p>
            <a:pPr/>
            <a:r>
              <a:rPr sz="2000"/>
              <a:t>Os dois cenários já rodaram (18/06/2026): 60,4 min e 363 amostras cada, e o graficos_compare.py gerou o resumo_kpi.csv e as 7 figuras.</a:t>
            </a:r>
          </a:p>
          <a:p>
            <a:pPr/>
            <a:r>
              <a:rPr sz="2000"/>
              <a:t>Ou seja: a infraestrutura está completa. O que falta é a carga se comportar como o protocolo manda — próximos 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O que o resumo_kpi.csv trouxe (18/06/2026)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154680"/>
                <a:gridCol w="3154680"/>
              </a:tblGrid>
              <a:tr h="350520">
                <a:tc>
                  <a:txBody>
                    <a:bodyPr/>
                    <a:lstStyle/>
                    <a:p>
                      <a:r>
                        <a:rPr sz="1400" b="1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Round Robin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Amostras / duração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363 / 60,4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363 / 60,4 min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Latência média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615,16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460,25 ms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Latência 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550,11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420,55 ms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Latência 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1242,82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806,91 ms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Latência 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1412,43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1118,10 ms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Violação de SLA (&gt;200 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96,67 %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96,11 %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CPU média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2,14 %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2,17 %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Throughput médio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7,87 kbps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14,97 kbps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Instâncias média / máx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9,46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9,43 / 10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Instance-minutes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572,2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570,4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300"/>
                        <a:t>Mudanças de escala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Lendo a tabela: por que ela ainda não responde a pergunta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À primeira vista o Round Robin ganha: 460 ms contra 615 ms de média, p95 de 807 contra 1243.</a:t>
            </a:r>
          </a:p>
          <a:p>
            <a:pPr/>
            <a:r>
              <a:rPr sz="2000"/>
              <a:t>Mas os p50 (550,11 e 420,55) são exatamente os valores em que cada curva congela — ou seja, mais da metade das amostras é o mesmo número repetido.</a:t>
            </a:r>
          </a:p>
          <a:p>
            <a:pPr/>
            <a:r>
              <a:rPr sz="2000"/>
              <a:t>A violação de SLA de ~96% nos dois cenários é consequência disso: o valor travado está acima de 200 ms e domina a série.</a:t>
            </a:r>
          </a:p>
          <a:p>
            <a:pPr/>
            <a:r>
              <a:rPr sz="2000"/>
              <a:t>Os KPIs de custo e estabilidade ficaram empatados (572 contra 570 instance-minutes, 8 mudanças de escala nos dois) porque o pool foi para o teto e ficou lá nos dois casos.</a:t>
            </a:r>
          </a:p>
          <a:p>
            <a:pPr/>
            <a:r>
              <a:rPr sz="2000"/>
              <a:t>Conclusão: o experimento rodou, a coleta funcionou, mas a comparação MAB vs RR ainda não é válida.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Evidência 1 — a latência congela no minuto 14</a:t>
            </a:r>
          </a:p>
        </p:txBody>
      </p:sp>
      <p:pic>
        <p:nvPicPr>
          <p:cNvPr id="3" name="Picture 2" descr="comp_lat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463040"/>
            <a:ext cx="10058400" cy="46423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647" y="5760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</a:rPr>
              <a:t>Os primeiros 14 minutos têm dinâmica real (120 ms subindo a 1400 ms). Depois, 46 minutos de linha reta: MAB em 550 ms e RR em 420 ms, sem variação nenhuma.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Evidência 2 — a carga desaparece no minuto 7</a:t>
            </a:r>
          </a:p>
        </p:txBody>
      </p:sp>
      <p:pic>
        <p:nvPicPr>
          <p:cNvPr id="3" name="Picture 2" descr="comp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463040"/>
            <a:ext cx="10058400" cy="46423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647" y="5760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</a:rPr>
              <a:t>A CPU média sobe a ~7% nos dois primeiros minutos, decai e fica em ~2% pelo resto da execução. Se as fases de ramp e peak (10 a 40 min, até 100 UEs) tivessem acontecido, a CPU teria subido, não caído.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Evidência 3 — o pool sobe e nunca desce</a:t>
            </a:r>
          </a:p>
        </p:txBody>
      </p:sp>
      <p:pic>
        <p:nvPicPr>
          <p:cNvPr id="3" name="Picture 2" descr="comp_insta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463040"/>
            <a:ext cx="10058400" cy="3868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647" y="5760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</a:rPr>
              <a:t>2 para 10 instâncias em ~7 min, idêntico nos dois cenários, e 53 minutos pregado no teto. O MAPE-K decide pela CPU MÁXIMA, que fica na cota de 0.20 core, e não pela média de 2% do gráfico anterior.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Diagnóstico: uma causa explica as três evidências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A carga não se sustenta além dos primeiros minutos. Sem requisição chegando, três coisas acontecem juntas:</a:t>
            </a:r>
          </a:p>
          <a:p>
            <a:pPr lvl="1"/>
            <a:r>
              <a:rPr sz="1800">
                <a:solidFill>
                  <a:srgbClr val="595959"/>
                </a:solidFill>
              </a:rPr>
              <a:t>a CPU cai para o ociosidade (~2%)</a:t>
            </a:r>
          </a:p>
          <a:p>
            <a:pPr lvl="1"/>
            <a:r>
              <a:rPr sz="1800">
                <a:solidFill>
                  <a:srgbClr val="595959"/>
                </a:solidFill>
              </a:rPr>
              <a:t>nenhuma amostra nova de latência chega, e o último valor por tópico persiste — daí a linha reta</a:t>
            </a:r>
          </a:p>
          <a:p>
            <a:pPr lvl="1"/>
            <a:r>
              <a:rPr sz="1800">
                <a:solidFill>
                  <a:srgbClr val="595959"/>
                </a:solidFill>
              </a:rPr>
              <a:t>o MAPE-K não desescala, porque a CPU máxima continua colada na cota de 0.20 core e nunca cruza o τ_down de 5%</a:t>
            </a:r>
          </a:p>
          <a:p>
            <a:pPr/>
            <a:r>
              <a:rPr sz="2000"/>
              <a:t>Duas hipóteses para a carga: o gerador de UEs morre (o run_workload.sh no container nr_ue) ou o ramp nunca acontece de fato.</a:t>
            </a:r>
          </a:p>
          <a:p>
            <a:pPr/>
            <a:r>
              <a:rPr sz="2000"/>
              <a:t>Como separar as duas: contar UEs ativas ao longo do tempo (o ues_json já está no CSV) e comparar com o cronograma das 5 fases.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O que já é resultado válido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A infraestrutura inteira funciona de ponta a ponta e de forma repetível: dois cenários de 60 min, mesma carga nominal, coleta idêntica.</a:t>
            </a:r>
          </a:p>
          <a:p>
            <a:pPr/>
            <a:r>
              <a:rPr sz="2000"/>
              <a:t>Os dois roteadores são de fato intercambiáveis sem alterar mais nada — condição necessária para a comparação ser justa.</a:t>
            </a:r>
          </a:p>
          <a:p>
            <a:pPr/>
            <a:r>
              <a:rPr sz="2000"/>
              <a:t>Os primeiros ~7 minutos de cada execução contêm dados reais e mostram a subida de latência sob carga crescente.</a:t>
            </a:r>
          </a:p>
          <a:p>
            <a:pPr/>
            <a:r>
              <a:rPr sz="2000"/>
              <a:t>O custo computacional dos dois é equivalente por construção: nas duas execuções o pool saturou igual, o que isola o roteamento como única variável quando a carga for corrigida.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</a:rP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1. Instrumentar a carga: contar UEs ativas por minuto e confirmar se o ramp até 100 acontece. É o que destrava tudo o resto.</a:t>
            </a:r>
          </a:p>
          <a:p>
            <a:pPr/>
            <a:r>
              <a:rPr sz="2000"/>
              <a:t>2. Corrigir a agregação de latência para janela deslizante com percentis, de modo que a ausência de amostra apareça como lacuna e não como platô.</a:t>
            </a:r>
          </a:p>
          <a:p>
            <a:pPr/>
            <a:r>
              <a:rPr sz="2000"/>
              <a:t>3. Normalizar a CPU pela cota do container (0.20 core) antes de aplicar τ_up e τ_down, ou trocar o gatilho do MAPE-K para latência/fila.</a:t>
            </a:r>
          </a:p>
          <a:p>
            <a:pPr/>
            <a:r>
              <a:rPr sz="2000"/>
              <a:t>4. Repetir os dois cenários e refazer o resumo_kpi.csv — a partir daí a comparação MAB vs RR passa a ter significado.</a:t>
            </a:r>
          </a:p>
          <a:p>
            <a:pPr/>
            <a:r>
              <a:rPr sz="2000"/>
              <a:t>5. Verificar o cenário RR (latência não capturada e streamings residuais no início), relatado em 11/06.</a:t>
            </a:r>
          </a:p>
          <a:p>
            <a:pPr/>
            <a:r>
              <a:rPr sz="2000"/>
              <a:t>Pergunta para o professor: com o container limitado a 0.20 core, faz sentido manter a CPU como gatilho do MAPE-K, ou o experimento fica mais defensável escalando por latência, que é a métrica do SLA?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